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53099fe04474f" /><Relationship Type="http://schemas.openxmlformats.org/officeDocument/2006/relationships/extended-properties" Target="/docProps/app.xml" Id="R1beee27b3fff45c1" /><Relationship Type="http://schemas.openxmlformats.org/officeDocument/2006/relationships/officeDocument" Target="/ppt/presentation.xml" Id="Rd9f511336c16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aaa092f9f4962"/>
  </p:sldMasterIdLst>
  <p:notesMasterIdLst>
    <p:notesMasterId xmlns:r="http://schemas.openxmlformats.org/officeDocument/2006/relationships" r:id="R366eb449e2b74444"/>
  </p:notesMasterIdLst>
  <p:sldIdLst>
    <p:sldId xmlns:r="http://schemas.openxmlformats.org/officeDocument/2006/relationships" id="256" r:id="R631c1ef1c06b4d8f"/>
    <p:sldId xmlns:r="http://schemas.openxmlformats.org/officeDocument/2006/relationships" id="257" r:id="R05cabc58a37746c5"/>
    <p:sldId xmlns:r="http://schemas.openxmlformats.org/officeDocument/2006/relationships" id="258" r:id="Rc999a8f772c14e01"/>
    <p:sldId xmlns:r="http://schemas.openxmlformats.org/officeDocument/2006/relationships" id="259" r:id="R391e981682224c89"/>
    <p:sldId xmlns:r="http://schemas.openxmlformats.org/officeDocument/2006/relationships" id="260" r:id="R57155170ba9347d9"/>
    <p:sldId xmlns:r="http://schemas.openxmlformats.org/officeDocument/2006/relationships" id="261" r:id="Rc7be97e609834fe9"/>
    <p:sldId xmlns:r="http://schemas.openxmlformats.org/officeDocument/2006/relationships" id="262" r:id="R388153638df04312"/>
    <p:sldId xmlns:r="http://schemas.openxmlformats.org/officeDocument/2006/relationships" id="263" r:id="R6e57557f706d4eb8"/>
    <p:sldId xmlns:r="http://schemas.openxmlformats.org/officeDocument/2006/relationships" id="264" r:id="Rd89331c349ae48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bec4382a3340fa" /><Relationship Type="http://schemas.openxmlformats.org/officeDocument/2006/relationships/slideMaster" Target="/ppt/slideMasters/slideMaster1.xml" Id="R9c4aaa092f9f4962" /><Relationship Type="http://schemas.openxmlformats.org/officeDocument/2006/relationships/notesMaster" Target="/ppt/notesMasters/notesMaster1.xml" Id="R366eb449e2b74444" /><Relationship Type="http://schemas.openxmlformats.org/officeDocument/2006/relationships/presProps" Target="/ppt/presProps.xml" Id="Rb0e07ce3f478440f" /><Relationship Type="http://schemas.openxmlformats.org/officeDocument/2006/relationships/tableStyles" Target="/ppt/tableStyles.xml" Id="R60a9aa69470c469f" /><Relationship Type="http://schemas.openxmlformats.org/officeDocument/2006/relationships/slide" Target="/ppt/slides/slide1.xml" Id="R631c1ef1c06b4d8f" /><Relationship Type="http://schemas.openxmlformats.org/officeDocument/2006/relationships/slide" Target="/ppt/slides/slide2.xml" Id="R05cabc58a37746c5" /><Relationship Type="http://schemas.openxmlformats.org/officeDocument/2006/relationships/slide" Target="/ppt/slides/slide3.xml" Id="Rc999a8f772c14e01" /><Relationship Type="http://schemas.openxmlformats.org/officeDocument/2006/relationships/slide" Target="/ppt/slides/slide4.xml" Id="R391e981682224c89" /><Relationship Type="http://schemas.openxmlformats.org/officeDocument/2006/relationships/slide" Target="/ppt/slides/slide5.xml" Id="R57155170ba9347d9" /><Relationship Type="http://schemas.openxmlformats.org/officeDocument/2006/relationships/slide" Target="/ppt/slides/slide6.xml" Id="Rc7be97e609834fe9" /><Relationship Type="http://schemas.openxmlformats.org/officeDocument/2006/relationships/slide" Target="/ppt/slides/slide7.xml" Id="R388153638df04312" /><Relationship Type="http://schemas.openxmlformats.org/officeDocument/2006/relationships/slide" Target="/ppt/slides/slide8.xml" Id="R6e57557f706d4eb8" /><Relationship Type="http://schemas.openxmlformats.org/officeDocument/2006/relationships/slide" Target="/ppt/slides/slide9.xml" Id="Rd89331c349ae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23d84c85f47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24b39068934eb3" /><Relationship Type="http://schemas.openxmlformats.org/officeDocument/2006/relationships/notesMaster" Target="/ppt/notesMasters/notesMaster1.xml" Id="R8c4728f8ba134e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e69e5251c4134" /><Relationship Type="http://schemas.openxmlformats.org/officeDocument/2006/relationships/notesMaster" Target="/ppt/notesMasters/notesMaster1.xml" Id="Rbc7fcdd6cb3a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0d6525963c44cf" /><Relationship Type="http://schemas.openxmlformats.org/officeDocument/2006/relationships/notesMaster" Target="/ppt/notesMasters/notesMaster1.xml" Id="Rd92bc6dde8b04c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789ce09b8f426d" /><Relationship Type="http://schemas.openxmlformats.org/officeDocument/2006/relationships/notesMaster" Target="/ppt/notesMasters/notesMaster1.xml" Id="Ra77bf1f2a02e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84a7c3a45d4027" /><Relationship Type="http://schemas.openxmlformats.org/officeDocument/2006/relationships/notesMaster" Target="/ppt/notesMasters/notesMaster1.xml" Id="Re30295b5c93c4d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3cb4bdb5b345b3" /><Relationship Type="http://schemas.openxmlformats.org/officeDocument/2006/relationships/notesMaster" Target="/ppt/notesMasters/notesMaster1.xml" Id="Rf6e701e12643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ea6d8cbabe4cbe" /><Relationship Type="http://schemas.openxmlformats.org/officeDocument/2006/relationships/notesMaster" Target="/ppt/notesMasters/notesMaster1.xml" Id="R513c8ede58bc40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e4df3052514810" /><Relationship Type="http://schemas.openxmlformats.org/officeDocument/2006/relationships/notesMaster" Target="/ppt/notesMasters/notesMaster1.xml" Id="R6d40dfd4c82c4c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fc486c329843d3" /><Relationship Type="http://schemas.openxmlformats.org/officeDocument/2006/relationships/notesMaster" Target="/ppt/notesMasters/notesMaster1.xml" Id="R5c46040a0cf1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1f4c4f5fe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263ad95125487c" /><Relationship Type="http://schemas.openxmlformats.org/officeDocument/2006/relationships/slideLayout" Target="/ppt/slideLayouts/slideLayout1.xml" Id="Rd76f351eac8e49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6f351eac8e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16b399b054eed" /><Relationship Type="http://schemas.openxmlformats.org/officeDocument/2006/relationships/notesSlide" Target="/ppt/notesSlides/notesSlide1.xml" Id="R67aa9876687d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8a4bc05ff4374" /><Relationship Type="http://schemas.openxmlformats.org/officeDocument/2006/relationships/notesSlide" Target="/ppt/notesSlides/notesSlide2.xml" Id="Rfacb2835783e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08c4466784f65" /><Relationship Type="http://schemas.openxmlformats.org/officeDocument/2006/relationships/notesSlide" Target="/ppt/notesSlides/notesSlide3.xml" Id="R1e9ff6e4801241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f831c340646ca" /><Relationship Type="http://schemas.openxmlformats.org/officeDocument/2006/relationships/notesSlide" Target="/ppt/notesSlides/notesSlide4.xml" Id="Rf00c84a98c274b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ebc84b70b4458" /><Relationship Type="http://schemas.openxmlformats.org/officeDocument/2006/relationships/notesSlide" Target="/ppt/notesSlides/notesSlide5.xml" Id="R53df36ce413741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f7f924901447c" /><Relationship Type="http://schemas.openxmlformats.org/officeDocument/2006/relationships/notesSlide" Target="/ppt/notesSlides/notesSlide6.xml" Id="R44d25ae0502342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b8e72fa624999" /><Relationship Type="http://schemas.openxmlformats.org/officeDocument/2006/relationships/notesSlide" Target="/ppt/notesSlides/notesSlide7.xml" Id="R536f8e52b6e8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a1f61d97c4fbf" /><Relationship Type="http://schemas.openxmlformats.org/officeDocument/2006/relationships/notesSlide" Target="/ppt/notesSlides/notesSlide8.xml" Id="R00bda0955df740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4a329d99c4bb9" /><Relationship Type="http://schemas.openxmlformats.org/officeDocument/2006/relationships/notesSlide" Target="/ppt/notesSlides/notesSlide9.xml" Id="Rb5356e3eafff45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4304E-3755-4B22-8896-48C33EFD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4A741-2F63-4589-BDD2-5AF47C3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9B29C-8408-49C4-90E3-3D6682BF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9CA36-D530-450A-8C52-854FE114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853A4-1242-473D-8522-E7CB99F5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192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FACELESS VIDEO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C6759-A1A8-413B-8FFD-3A3569A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8FB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8FB"/>
                </a:solidFill>
                <a:latin typeface="Aptos Display"/>
                <a:ea typeface="Aptos Display"/>
                <a:cs typeface="Aptos Display"/>
              </a:rPr>
              <a:t>Lucid Trading vs Apex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389C1-553B-40C6-8A80-FB967850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Which rules are better for NQ/MNQ traders?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71DB4-2A9A-413D-9D06-0AF59F6B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35433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6D73FF">
              <a:alpha val="8000"/>
            </a:srgbClr>
          </a:solidFill>
          <a:ln xmlns:a="http://schemas.openxmlformats.org/drawingml/2006/main" w="11430">
            <a:solidFill>
              <a:srgbClr val="6D73FF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7536F-035B-4CD0-8612-97278064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LUCID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1BD07-9D4B-4A49-B15F-CDF24C6A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vs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1DE43-37D2-455E-995C-08EEC11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APEX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EC77F-8DB0-4202-81EC-A6A28D3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Voiceover + slides + calculator screen recording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F6197-6F89-4836-9D87-7FF52ED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1A7E7-2137-4143-A347-FF454860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125380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54BFD-5382-45E7-8205-6F4AEE2C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06363-629B-435A-A82C-305C0261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6E053-2BE1-4F59-AFA9-7613981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5DD3E-BEF6-4B72-A61A-8D6B961F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6D7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8BAD6-F5DD-425A-9778-2AC37325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7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3FF"/>
                </a:solidFill>
                <a:latin typeface="Aptos"/>
                <a:ea typeface="Aptos"/>
                <a:cs typeface="Aptos"/>
              </a:rPr>
              <a:t>QUICK 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853E2-17D7-4B2D-93E0-765B448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8FB"/>
                </a:solidFill>
                <a:latin typeface="Aptos Display"/>
                <a:ea typeface="Aptos Display"/>
                <a:cs typeface="Aptos Display"/>
              </a:rPr>
              <a:t>Lucid wins rule simplicity. Apex wins account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75E48-C764-42B3-A45B-F045645A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9720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1430">
            <a:solidFill>
              <a:srgbClr val="10B981">
                <a:alpha val="3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0601F-3E48-4576-B19D-6127991F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LucidFlex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9C16B-C92D-4924-9A88-2DA820AB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Cleaner funded-stage rules</a:t>
            </a:r>
          </a:p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No activation-fee angle</a:t>
            </a:r>
          </a:p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No fixed payout-window angle</a:t>
            </a:r>
          </a:p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Simpler fit for one account at a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4D2E9-5013-4BC4-926F-A8FA7C1A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9720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9E0B">
              <a:alpha val="8000"/>
            </a:srgbClr>
          </a:solidFill>
          <a:ln xmlns:a="http://schemas.openxmlformats.org/drawingml/2006/main" w="11430">
            <a:solidFill>
              <a:srgbClr val="F59E0B">
                <a:alpha val="3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09870-18F7-47CD-8D5E-D38D4090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Apex EOD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122E9-815B-454B-9A49-0E5A2D1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8615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More account capacity</a:t>
            </a:r>
          </a:p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Possible one-day evaluation path</a:t>
            </a:r>
          </a:p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100% approved EOD payout split</a:t>
            </a:r>
          </a:p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Stronger for copier-scale traders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C5512-7B7E-4AFA-BF95-680A7673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0622F-82DF-417C-8721-3C4E6D8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3445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79D80-383C-4D30-95CA-0FCC1249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AED65-380E-451A-8107-1CC9F94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C8330-70BC-42DE-B373-5CE16ED1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5AAEE-9231-4649-A2AE-B8C395E1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EDC32-3B06-418A-95DE-D609235E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DRAWDOWN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060DA-BB54-48D9-A81C-A63EAFC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EOD drawdown is usually easier for NQ runners.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D1F59-D64E-4CE0-A13C-763A361A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07061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AC33C-C443-4827-9DDB-3798D8BE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C2">
              <a:alpha val="16000"/>
            </a:srgbClr>
          </a:solidFill>
          <a:ln xmlns:a="http://schemas.openxmlformats.org/drawingml/2006/main" w="0">
            <a:solidFill>
              <a:srgbClr val="A8B0C2">
                <a:alpha val="1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CD27A-1B9C-4418-9071-7F6D6C25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765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C2">
              <a:alpha val="16000"/>
            </a:srgbClr>
          </a:solidFill>
          <a:ln xmlns:a="http://schemas.openxmlformats.org/drawingml/2006/main" w="0">
            <a:solidFill>
              <a:srgbClr val="A8B0C2">
                <a:alpha val="1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F78E4-8BA0-4A6E-8E8F-C79CE719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765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C2">
              <a:alpha val="16000"/>
            </a:srgbClr>
          </a:solidFill>
          <a:ln xmlns:a="http://schemas.openxmlformats.org/drawingml/2006/main" w="0">
            <a:solidFill>
              <a:srgbClr val="A8B0C2">
                <a:alpha val="1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3E77A-C2B5-4EC5-B29F-462B1E46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765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C2">
              <a:alpha val="16000"/>
            </a:srgbClr>
          </a:solidFill>
          <a:ln xmlns:a="http://schemas.openxmlformats.org/drawingml/2006/main" w="0">
            <a:solidFill>
              <a:srgbClr val="A8B0C2">
                <a:alpha val="1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42225-1B16-4FDC-BB7F-12D7C8A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C2">
              <a:alpha val="16000"/>
            </a:srgbClr>
          </a:solidFill>
          <a:ln xmlns:a="http://schemas.openxmlformats.org/drawingml/2006/main" w="0">
            <a:solidFill>
              <a:srgbClr val="A8B0C2">
                <a:alpha val="1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A9173-AB5D-4831-9505-947E83C7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765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C2">
              <a:alpha val="16000"/>
            </a:srgbClr>
          </a:solidFill>
          <a:ln xmlns:a="http://schemas.openxmlformats.org/drawingml/2006/main" w="0">
            <a:solidFill>
              <a:srgbClr val="A8B0C2">
                <a:alpha val="1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BF475-386A-414F-B67F-8333CD27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C2">
              <a:alpha val="16000"/>
            </a:srgbClr>
          </a:solidFill>
          <a:ln xmlns:a="http://schemas.openxmlformats.org/drawingml/2006/main" w="0">
            <a:solidFill>
              <a:srgbClr val="A8B0C2">
                <a:alpha val="1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81772-D295-4E35-8069-B54DFC4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7B3EA-BBD3-4E81-8B4A-7FBDB999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EOD floor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28FAB-9491-4CF9-A0B1-CFC995E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53665">
            <a:off x="1428750" y="4457700"/>
            <a:ext cx="1253397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122DC-BAA0-49B9-B587-7F719A5D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14341">
            <a:off x="2571750" y="3943350"/>
            <a:ext cx="1256037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1850E-D2DF-432A-93C7-E013FB1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5885">
            <a:off x="3762375" y="3543300"/>
            <a:ext cx="13308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367CD-1063-4D43-BAD0-21EB8978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4349">
            <a:off x="5048250" y="388620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46C55-0FDB-4A91-B4D3-9CA1683B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443">
            <a:off x="6334125" y="3200400"/>
            <a:ext cx="13955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8E878-BAEB-4FF1-94DB-4B7447D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6305">
            <a:off x="7715250" y="3000375"/>
            <a:ext cx="1739741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48D9E-A1A2-4B73-A4EF-13799500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B6FF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423EC-C208-4CB4-8A47-26223F7B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B6FF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04B0E-33B6-4234-91EB-BE352CE5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67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B6FF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647F9-6704-48C9-9E35-3FB55028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B6FF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B9DE3-B47D-4BB7-967E-88ACCBF9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B6FF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8C25A-F50D-4496-84FA-190D891E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B6FF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1FAF47-075D-4A37-8F3E-A6B0CF5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B6FF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3C1CA-E615-4A35-B827-F0F73909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Why it matters: the account can have room to trade without every unrealized pop moving the floor.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EE4B8-5050-43CD-92DE-DE661773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98DB3F-5533-4E2B-B183-A987BE31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790619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DE3E6-BD88-48A5-B8BE-768074A1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E92D8-88AA-4661-8F21-8A5AC36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C9719-9302-4C5E-B23C-7EC5C9C8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51942-AF7A-4A59-B541-A658428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447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6D7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B9D89-7A60-489D-9DE2-70F2D095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7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3FF"/>
                </a:solidFill>
                <a:latin typeface="Aptos"/>
                <a:ea typeface="Aptos"/>
                <a:cs typeface="Aptos"/>
              </a:rPr>
              <a:t>NQ RISK MATH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0DB35-D2C0-4F64-9A12-362B5B7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A 50K account is really a drawdown-cushion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E2398-018C-49E2-9FC7-49FCCE7C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48768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31BD3-8E7D-4549-9CB0-8DF14FB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1 NQ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E2BFC-C38D-49CA-9EE4-5A123E8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25 points x $20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ACC7F-484D-4E70-8FFE-EE6ABF83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$500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8E411-217E-4B1E-BDF9-6DDE3D8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8768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5E91E-6A6A-4964-A628-4B570EB4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D73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D73FF"/>
                </a:solidFill>
                <a:latin typeface="Aptos"/>
                <a:ea typeface="Aptos"/>
                <a:cs typeface="Aptos"/>
              </a:rPr>
              <a:t>2 MNQ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98FFB-9F9A-4686-9DFF-88E7709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86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25 points x $2 x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E15EE-6BC3-4B62-9416-917952F8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$100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A7590-3363-44CC-BEA2-E5AA612C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MNQ keeps the same idea smaller while the account cushion builds.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7A6CE-95CD-4199-8FBB-812A5D8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27290-DE20-40F2-80FB-ECFFF3E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332789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91F95-B9C8-4416-96D3-03ED622F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DA22B-BBDD-4209-B696-41943780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64BCF-DE98-4182-A3E1-66B1269D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1D151-7FE4-46B3-855A-2232C831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104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4E298-F28A-4354-A121-1632CDD3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PAYOUTS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037E1-63F8-4879-878F-9A8ED62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Do not compare only the payout split.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B1BB0-4F2C-4C77-A949-77437B38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8382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4FFCD-B294-4EF7-BD4E-71DDC01E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3FF"/>
          </a:solidFill>
          <a:ln xmlns:a="http://schemas.openxmlformats.org/drawingml/2006/main" w="0">
            <a:solidFill>
              <a:srgbClr val="6D7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BAC2B-5EFD-437B-9B99-7BA62F60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Minimum profitable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EE545-998D-4866-8952-BEA5757F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8382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96840-B000-4AA7-A345-C8BFAF2C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BDD15-11AE-471F-A35E-79DEBED6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76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Consistency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94856-47F6-4597-9D3F-8F793E13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382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44ED4-8604-46CF-B3C7-EF65D98D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52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F2597-9F82-4D87-92D0-ECB56AD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Payout 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3F2B1-E67B-4713-8F9D-5E039C5D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8382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4D38B-2A80-40D9-BE62-9DE8BBA7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0C91-0186-4C78-83E2-2BAE1287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10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Payout window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3A62C-E4EF-42B1-9281-328CE8C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8382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F82D2-6E59-456B-A5CA-B7C9545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86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DE5F6-D442-4F43-929E-2AA7186A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76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Lifetime safety net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8B5E7-5E6C-4BCC-A4A1-38E086FC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81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These rules can matter more than the headline payout split.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B92A6-D86B-49AE-BE12-9AD2996E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BBD4D-F23B-48B0-8538-BD23EF4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556090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A39E3-F246-4BDC-8C1B-A7A4E69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68590-348C-46AC-990F-630528A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9777A-BE60-4B5C-9E83-DCC36E95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A894A-1A6B-45B4-A7EF-FE587AAC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6D6EB-624F-4082-BAF7-8BCF6B9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SCORECARD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851DA-D509-4792-B12A-DE019F0A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Where each firm actually wins.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C1C04-C23F-4EF7-8C08-CE28C82F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31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A9043-0588-4352-A421-3FD3C6A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EOD drawdown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1E927-4BDF-4C3B-BE78-B474EEA8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Tie / Lucid 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0424C-9357-4AF6-AEEF-6955C0BA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31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A76E0-C3A2-418E-99B9-7A6411D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Evaluation speed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DC951-CC42-4692-9D35-D201429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33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Apex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06818-8A5D-4BF7-850D-C38C4FB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331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7C1FB-4EA6-425A-AAC9-27C8E9E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43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Funded simplicity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3B7E4-1792-47EC-B6BF-4D4357E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Lucid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F6EA5-022E-4A4E-A591-0902F58C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31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6506C-6086-4F19-A33A-7E78207E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Payout 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70050-1DFD-4173-A210-BB67FC9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Apex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71468-30F4-4871-8701-BD45E076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331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157A8-792B-4FE6-97AF-85FD8273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290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Payout rule simplicity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20FD7-4A79-4144-BE5C-F82AF57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9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Lucid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70422-83ED-4CC0-B2D5-B6A06CD1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331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45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572AF-886A-4652-B3F2-2E1AA8C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290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Account quantity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75B6B-0A7A-4E26-AA9D-05C93CA0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Apex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CC7BE-D4FB-41A2-86EA-6A1CFEA8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7505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143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824A5-8BB2-4ADA-988E-75ABD1A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482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Overall for most one-account NQ/MNQ traders: Lucid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3F977-1EFF-4C8F-B79C-428723E6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A113E-A3D8-49EA-AA77-72158FC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497562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8147F-A6F0-4ACD-AEF7-4FD23208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08013-C5EB-4B42-A47D-A17937D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9E578-8F4A-4CD9-B4C5-88368651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C95CA-A08A-4B86-A09C-EB096F06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771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6D7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B6CA7-24B4-48AF-9F44-A5FD3A89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7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73FF"/>
                </a:solidFill>
                <a:latin typeface="Aptos"/>
                <a:ea typeface="Aptos"/>
                <a:cs typeface="Aptos"/>
              </a:rPr>
              <a:t>SCREEN RECORDING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0DC0F-A019-46C5-96EE-E00CA1B4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Use the calculator to check real NQ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05D28-7B05-4FAB-99BB-B4E70A7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04775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C6CAC-F8E4-475D-99E4-EC373F69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2857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143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0BF01-D346-4D92-A4C2-A444C3B3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05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NQ dollar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C25CE-103D-455C-B8F1-F23A7BE7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DEAF7-978E-4F3E-A55F-DA0A79A0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6D73FF">
              <a:alpha val="8000"/>
            </a:srgbClr>
          </a:solidFill>
          <a:ln xmlns:a="http://schemas.openxmlformats.org/drawingml/2006/main" w="11430">
            <a:solidFill>
              <a:srgbClr val="6D73FF">
                <a:alpha val="3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F6543-BDBE-4E07-B968-63452C10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Cushion used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7FDD1-984F-4A3C-967A-0669CD1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DFB88-F32D-4B56-8C8D-4E0514B5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857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59E0B">
              <a:alpha val="8000"/>
            </a:srgbClr>
          </a:solidFill>
          <a:ln xmlns:a="http://schemas.openxmlformats.org/drawingml/2006/main" w="1143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B84D1-AEAA-47D9-B09C-AF01BFB5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Reward:risk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DFFB1-7CA3-47AC-B372-41047A62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2R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AD737-627C-429B-BD8B-DBB69C0E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Try the calculator: futurespropedge.com/calculators/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BC7DA-B1A1-4178-9298-3C0D3E36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DD392-57F4-48BA-94D0-E06747AC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315897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D22C4-C486-4F9A-B906-78DAFDE4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DB9A7-4DC6-44F5-9699-9AD1EC88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DE163-8248-4BB9-A40C-1744661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85E15-EA33-4CDA-92EB-64ADDB4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04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C04ED-1767-4D30-AD2A-92A13559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9A1E8-91CC-4159-80A8-DABCA5D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8FB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7F8FB"/>
                </a:solidFill>
                <a:latin typeface="Aptos Display"/>
                <a:ea typeface="Aptos Display"/>
                <a:cs typeface="Aptos Display"/>
              </a:rPr>
              <a:t>Compare before you buy.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50EEA-BC44-4ED7-BDA1-93C23BEF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Use the free NQ/MNQ calculator and written comparison before choosing a challenge.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F2061-E91B-4FB6-ADC9-4D5B7CE8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7429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143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72602-4F51-4AB2-ACF4-D9ABA7CA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DE850-5630-48C4-B9AF-104D1BD8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2479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6D73FF">
              <a:alpha val="8000"/>
            </a:srgbClr>
          </a:solidFill>
          <a:ln xmlns:a="http://schemas.openxmlformats.org/drawingml/2006/main" w="11430">
            <a:solidFill>
              <a:srgbClr val="6D73FF">
                <a:alpha val="3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4248E-2331-4232-91A7-3914BDC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46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LINKS</a:t>
            </a:r>
          </a:p>
          <a:p xmlns:a="http://schemas.openxmlformats.org/drawingml/2006/main">
            <a:pPr>
              <a:defRPr sz="25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BELOW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A8B6B-16E5-4665-B3C2-E2DC2951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C15BE-6842-413F-9973-94FB8FD9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443665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223788-FC05-4372-B4A4-B5749D98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06CAB-7C7E-40F2-B4DA-A65D195F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1E3B5-0303-4071-A664-B259349A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C284C-2C77-4A81-9106-1D2FAF25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2DDC3-FB03-4BA2-A0D0-30F7940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SOURCE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5DBFC-24F6-44DE-A0DC-236C6F66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7F8FB"/>
                </a:solidFill>
                <a:latin typeface="Aptos"/>
                <a:ea typeface="Aptos"/>
                <a:cs typeface="Aptos"/>
              </a:rPr>
              <a:t>Check official pages before buying.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3AF2B-9835-4D14-BA43-B84C4A7B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876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0F633-475D-4B7F-9292-88E0BB7F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D56F0-B3F7-4921-BA7A-49FF3038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24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LucidFlex evaluation, funded, payout, drawdown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43D28-40A5-4508-AA63-1339535B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876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3C7E3-6BFF-418B-AA17-6974437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A4530-22CF-4F92-B820-B512A511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48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Apex EOD evaluation, PA, payout, drawdown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E95CF-07E7-4DA7-AD5D-4B08BA79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876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0013E-CC96-44EB-83F3-E59EFAFF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15627-9771-45D5-AE42-167C37EB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Futures Prop Edge calculator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F388B-F385-4291-9D48-E6C544B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876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1430">
            <a:solidFill>
              <a:srgbClr val="2831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D0B52-766B-46EF-BE28-C6294563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14507-7935-4491-9030-0F7E6AC3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B"/>
                </a:solidFill>
                <a:latin typeface="Aptos"/>
                <a:ea typeface="Aptos"/>
                <a:cs typeface="Aptos"/>
              </a:rPr>
              <a:t>Recheck prices, promos, and rules before buying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30C8D-E5D1-43BD-91F2-11AA1BF9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Rules and prices can change. Recheck the firm pages before buying.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7A0CA-3237-4484-845D-8AF4D045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0C2"/>
                </a:solidFill>
                <a:latin typeface="Aptos"/>
                <a:ea typeface="Aptos"/>
                <a:cs typeface="Aptos"/>
              </a:rPr>
              <a:t>FuturesPropEdge.com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3A882-6D0E-402E-9353-469DD7A3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3246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0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0C2"/>
                </a:solidFill>
                <a:latin typeface="Aptos"/>
                <a:ea typeface="Aptos"/>
                <a:cs typeface="Aptos"/>
              </a:rPr>
              <a:t>Educational only. Verify current official rules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1734262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2026-06-20T01:43:16.6150000Z</dcterms:created>
  <dcterms:modified xsi:type="dcterms:W3CDTF">2026-06-20T01:43:16.6150000Z</dcterms:modified>
</coreProperties>
</file>